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nton" charset="1" panose="00000500000000000000"/>
      <p:regular r:id="rId21"/>
    </p:embeddedFont>
    <p:embeddedFont>
      <p:font typeface="Roboto Bold" charset="1" panose="02000000000000000000"/>
      <p:regular r:id="rId22"/>
    </p:embeddedFont>
    <p:embeddedFont>
      <p:font typeface="Roboto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5840" cy="10285200"/>
            <a:chOff x="0" y="0"/>
            <a:chExt cx="24381120" cy="1371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1079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24381079">
                  <a:moveTo>
                    <a:pt x="0" y="0"/>
                  </a:moveTo>
                  <a:lnTo>
                    <a:pt x="24381079" y="0"/>
                  </a:lnTo>
                  <a:lnTo>
                    <a:pt x="24381079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3" r="0" b="-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27440" y="9397440"/>
            <a:ext cx="6459120" cy="889200"/>
            <a:chOff x="0" y="0"/>
            <a:chExt cx="8612160" cy="118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12124" cy="1185545"/>
            </a:xfrm>
            <a:custGeom>
              <a:avLst/>
              <a:gdLst/>
              <a:ahLst/>
              <a:cxnLst/>
              <a:rect r="r" b="b" t="t" l="l"/>
              <a:pathLst>
                <a:path h="1185545" w="8612124">
                  <a:moveTo>
                    <a:pt x="8612124" y="1183513"/>
                  </a:moveTo>
                  <a:lnTo>
                    <a:pt x="0" y="1185545"/>
                  </a:lnTo>
                  <a:lnTo>
                    <a:pt x="618363" y="0"/>
                  </a:lnTo>
                  <a:close/>
                </a:path>
              </a:pathLst>
            </a:custGeom>
            <a:solidFill>
              <a:srgbClr val="D7EC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1440" y="7080480"/>
            <a:ext cx="12366000" cy="2313360"/>
            <a:chOff x="0" y="0"/>
            <a:chExt cx="16488000" cy="308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88029" cy="3084449"/>
            </a:xfrm>
            <a:custGeom>
              <a:avLst/>
              <a:gdLst/>
              <a:ahLst/>
              <a:cxnLst/>
              <a:rect r="r" b="b" t="t" l="l"/>
              <a:pathLst>
                <a:path h="3084449" w="16488029">
                  <a:moveTo>
                    <a:pt x="2286" y="627634"/>
                  </a:moveTo>
                  <a:lnTo>
                    <a:pt x="16387445" y="3084449"/>
                  </a:lnTo>
                  <a:lnTo>
                    <a:pt x="16488029" y="28945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C2E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677783" y="7761240"/>
            <a:ext cx="5379120" cy="2080800"/>
            <a:chOff x="0" y="0"/>
            <a:chExt cx="7172160" cy="277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72198" cy="2774442"/>
            </a:xfrm>
            <a:custGeom>
              <a:avLst/>
              <a:gdLst/>
              <a:ahLst/>
              <a:cxnLst/>
              <a:rect r="r" b="b" t="t" l="l"/>
              <a:pathLst>
                <a:path h="2774442" w="7172198">
                  <a:moveTo>
                    <a:pt x="0" y="0"/>
                  </a:moveTo>
                  <a:lnTo>
                    <a:pt x="7172198" y="0"/>
                  </a:lnTo>
                  <a:lnTo>
                    <a:pt x="7172198" y="2774442"/>
                  </a:lnTo>
                  <a:lnTo>
                    <a:pt x="0" y="2774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808" r="0" b="-4605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3109" y="2580559"/>
            <a:ext cx="15172877" cy="2275404"/>
            <a:chOff x="0" y="0"/>
            <a:chExt cx="17485440" cy="2622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85440" cy="2622209"/>
            </a:xfrm>
            <a:custGeom>
              <a:avLst/>
              <a:gdLst/>
              <a:ahLst/>
              <a:cxnLst/>
              <a:rect r="r" b="b" t="t" l="l"/>
              <a:pathLst>
                <a:path h="2622209" w="17485440">
                  <a:moveTo>
                    <a:pt x="0" y="0"/>
                  </a:moveTo>
                  <a:lnTo>
                    <a:pt x="17485440" y="0"/>
                  </a:lnTo>
                  <a:lnTo>
                    <a:pt x="17485440" y="2622209"/>
                  </a:lnTo>
                  <a:lnTo>
                    <a:pt x="0" y="26222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485440" cy="2622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159"/>
                </a:lnSpc>
              </a:pPr>
              <a:r>
                <a:rPr lang="en-US" sz="9299" spc="-2">
                  <a:solidFill>
                    <a:srgbClr val="3F3F3F"/>
                  </a:solidFill>
                  <a:latin typeface="Anton"/>
                  <a:ea typeface="Anton"/>
                  <a:cs typeface="Anton"/>
                  <a:sym typeface="Anton"/>
                </a:rPr>
                <a:t> Selection Sort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319829" y="5133075"/>
            <a:ext cx="3648342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Ana Vitória S. da Luz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Gabriel Oliveira Ponde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Lara Côrtes Japiassu 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Lucas Garcia de Lacerda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Nicolas Alves de Jesus</a:t>
            </a:r>
          </a:p>
          <a:p>
            <a:pPr algn="l">
              <a:lnSpc>
                <a:spcPts val="27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" y="-1440"/>
            <a:ext cx="18288000" cy="10287360"/>
            <a:chOff x="0" y="0"/>
            <a:chExt cx="24384000" cy="137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508"/>
            </a:xfrm>
            <a:custGeom>
              <a:avLst/>
              <a:gdLst/>
              <a:ahLst/>
              <a:cxnLst/>
              <a:rect r="r" b="b" t="t" l="l"/>
              <a:pathLst>
                <a:path h="13716508" w="24384000">
                  <a:moveTo>
                    <a:pt x="1651" y="0"/>
                  </a:moveTo>
                  <a:lnTo>
                    <a:pt x="20420457" y="1651"/>
                  </a:lnTo>
                  <a:lnTo>
                    <a:pt x="24384000" y="13714857"/>
                  </a:lnTo>
                  <a:lnTo>
                    <a:pt x="0" y="1371650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880" y="0"/>
            <a:ext cx="18288000" cy="10285200"/>
            <a:chOff x="0" y="0"/>
            <a:chExt cx="243840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" r="0" b="-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02160" y="0"/>
            <a:ext cx="2761200" cy="9411120"/>
            <a:chOff x="0" y="0"/>
            <a:chExt cx="3681600" cy="12548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1603" cy="12548108"/>
            </a:xfrm>
            <a:custGeom>
              <a:avLst/>
              <a:gdLst/>
              <a:ahLst/>
              <a:cxnLst/>
              <a:rect r="r" b="b" t="t" l="l"/>
              <a:pathLst>
                <a:path h="12548108" w="3681603">
                  <a:moveTo>
                    <a:pt x="396494" y="0"/>
                  </a:moveTo>
                  <a:lnTo>
                    <a:pt x="3681603" y="12548108"/>
                  </a:lnTo>
                  <a:lnTo>
                    <a:pt x="3630803" y="1253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17520" y="8163360"/>
            <a:ext cx="1766880" cy="2121840"/>
            <a:chOff x="0" y="0"/>
            <a:chExt cx="2355840" cy="282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5850" cy="2829179"/>
            </a:xfrm>
            <a:custGeom>
              <a:avLst/>
              <a:gdLst/>
              <a:ahLst/>
              <a:cxnLst/>
              <a:rect r="r" b="b" t="t" l="l"/>
              <a:pathLst>
                <a:path h="2829179" w="2355850">
                  <a:moveTo>
                    <a:pt x="2355850" y="2829179"/>
                  </a:moveTo>
                  <a:lnTo>
                    <a:pt x="2355850" y="0"/>
                  </a:lnTo>
                  <a:lnTo>
                    <a:pt x="0" y="2829179"/>
                  </a:lnTo>
                  <a:close/>
                </a:path>
              </a:pathLst>
            </a:custGeom>
            <a:solidFill>
              <a:srgbClr val="81C2E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17520" y="8518320"/>
            <a:ext cx="1766880" cy="1766880"/>
            <a:chOff x="0" y="0"/>
            <a:chExt cx="2355840" cy="235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5850" cy="2355850"/>
            </a:xfrm>
            <a:custGeom>
              <a:avLst/>
              <a:gdLst/>
              <a:ahLst/>
              <a:cxnLst/>
              <a:rect r="r" b="b" t="t" l="l"/>
              <a:pathLst>
                <a:path h="2355850" w="2355850">
                  <a:moveTo>
                    <a:pt x="2355850" y="2355850"/>
                  </a:moveTo>
                  <a:lnTo>
                    <a:pt x="2355850" y="0"/>
                  </a:lnTo>
                  <a:lnTo>
                    <a:pt x="0" y="23558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400160" y="30960"/>
            <a:ext cx="1807200" cy="1952640"/>
            <a:chOff x="0" y="0"/>
            <a:chExt cx="2409600" cy="260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9571" cy="2603500"/>
            </a:xfrm>
            <a:custGeom>
              <a:avLst/>
              <a:gdLst/>
              <a:ahLst/>
              <a:cxnLst/>
              <a:rect r="r" b="b" t="t" l="l"/>
              <a:pathLst>
                <a:path h="2603500" w="2409571">
                  <a:moveTo>
                    <a:pt x="0" y="0"/>
                  </a:moveTo>
                  <a:lnTo>
                    <a:pt x="2409571" y="0"/>
                  </a:lnTo>
                  <a:lnTo>
                    <a:pt x="2409571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664" t="-115047" r="-324825" b="-9345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13520" y="962310"/>
            <a:ext cx="1374336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 spc="-1">
                <a:solidFill>
                  <a:srgbClr val="005CA1"/>
                </a:solidFill>
                <a:latin typeface="Roboto Bold"/>
                <a:ea typeface="Roboto Bold"/>
                <a:cs typeface="Roboto Bold"/>
                <a:sym typeface="Roboto Bold"/>
              </a:rPr>
              <a:t>Assuntos: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6400" y="2280222"/>
            <a:ext cx="13290480" cy="6980721"/>
            <a:chOff x="0" y="0"/>
            <a:chExt cx="17720640" cy="93076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20641" cy="9307628"/>
            </a:xfrm>
            <a:custGeom>
              <a:avLst/>
              <a:gdLst/>
              <a:ahLst/>
              <a:cxnLst/>
              <a:rect r="r" b="b" t="t" l="l"/>
              <a:pathLst>
                <a:path h="9307628" w="17720641">
                  <a:moveTo>
                    <a:pt x="0" y="0"/>
                  </a:moveTo>
                  <a:lnTo>
                    <a:pt x="17720641" y="0"/>
                  </a:lnTo>
                  <a:lnTo>
                    <a:pt x="17720641" y="9307628"/>
                  </a:lnTo>
                  <a:lnTo>
                    <a:pt x="0" y="93076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720640" cy="930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251238" indent="-625619" lvl="1">
                <a:lnSpc>
                  <a:spcPts val="4919"/>
                </a:lnSpc>
                <a:buFont typeface="Arial"/>
                <a:buChar char="•"/>
              </a:pPr>
              <a:r>
                <a:rPr lang="en-US" sz="4099" spc="-11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Diagrama visual</a:t>
              </a:r>
            </a:p>
            <a:p>
              <a:pPr algn="l">
                <a:lnSpc>
                  <a:spcPts val="4919"/>
                </a:lnSpc>
              </a:pPr>
            </a:p>
            <a:p>
              <a:pPr algn="l" marL="1251238" indent="-625619" lvl="1">
                <a:lnSpc>
                  <a:spcPts val="4919"/>
                </a:lnSpc>
                <a:buFont typeface="Arial"/>
                <a:buChar char="•"/>
              </a:pPr>
              <a:r>
                <a:rPr lang="en-US" sz="4099" spc="-11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Trecho do código</a:t>
              </a:r>
            </a:p>
            <a:p>
              <a:pPr algn="l">
                <a:lnSpc>
                  <a:spcPts val="4919"/>
                </a:lnSpc>
              </a:pPr>
            </a:p>
            <a:p>
              <a:pPr algn="l" marL="1251238" indent="-625619" lvl="1">
                <a:lnSpc>
                  <a:spcPts val="4919"/>
                </a:lnSpc>
                <a:buFont typeface="Arial"/>
                <a:buChar char="•"/>
              </a:pPr>
              <a:r>
                <a:rPr lang="en-US" sz="4099" spc="-11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Exemplo real aplicado na Ciência da Computação</a:t>
              </a:r>
            </a:p>
            <a:p>
              <a:pPr algn="l">
                <a:lnSpc>
                  <a:spcPts val="4919"/>
                </a:lnSpc>
              </a:pPr>
            </a:p>
            <a:p>
              <a:pPr algn="l" marL="1251238" indent="-625619" lvl="1">
                <a:lnSpc>
                  <a:spcPts val="4919"/>
                </a:lnSpc>
                <a:buFont typeface="Arial"/>
                <a:buChar char="•"/>
              </a:pPr>
              <a:r>
                <a:rPr lang="en-US" sz="4099" spc="-11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Complexidade</a:t>
              </a:r>
            </a:p>
            <a:p>
              <a:pPr algn="l">
                <a:lnSpc>
                  <a:spcPts val="4919"/>
                </a:lnSpc>
              </a:pPr>
            </a:p>
            <a:p>
              <a:pPr algn="l" marL="1251238" indent="-625619" lvl="1">
                <a:lnSpc>
                  <a:spcPts val="4919"/>
                </a:lnSpc>
                <a:buFont typeface="Arial"/>
                <a:buChar char="•"/>
              </a:pPr>
              <a:r>
                <a:rPr lang="en-US" sz="4099" spc="-11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Resultados obtidos</a:t>
              </a:r>
            </a:p>
            <a:p>
              <a:pPr algn="l">
                <a:lnSpc>
                  <a:spcPts val="4919"/>
                </a:lnSpc>
              </a:pPr>
            </a:p>
            <a:p>
              <a:pPr algn="l" marL="1251238" indent="-625619" lvl="1">
                <a:lnSpc>
                  <a:spcPts val="4919"/>
                </a:lnSpc>
                <a:buFont typeface="Arial"/>
                <a:buChar char="•"/>
              </a:pPr>
              <a:r>
                <a:rPr lang="en-US" sz="4099" spc="-11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Conclusão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744737" y="8730269"/>
            <a:ext cx="1790736" cy="879177"/>
          </a:xfrm>
          <a:custGeom>
            <a:avLst/>
            <a:gdLst/>
            <a:ahLst/>
            <a:cxnLst/>
            <a:rect r="r" b="b" t="t" l="l"/>
            <a:pathLst>
              <a:path h="879177" w="1790736">
                <a:moveTo>
                  <a:pt x="0" y="0"/>
                </a:moveTo>
                <a:lnTo>
                  <a:pt x="1790736" y="0"/>
                </a:lnTo>
                <a:lnTo>
                  <a:pt x="1790736" y="879177"/>
                </a:lnTo>
                <a:lnTo>
                  <a:pt x="0" y="879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26" r="0" b="-2326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5600" y="3164400"/>
            <a:ext cx="194400" cy="3790800"/>
            <a:chOff x="0" y="0"/>
            <a:chExt cx="259200" cy="505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207" cy="5054346"/>
            </a:xfrm>
            <a:custGeom>
              <a:avLst/>
              <a:gdLst/>
              <a:ahLst/>
              <a:cxnLst/>
              <a:rect r="r" b="b" t="t" l="l"/>
              <a:pathLst>
                <a:path h="5054346" w="259207">
                  <a:moveTo>
                    <a:pt x="0" y="0"/>
                  </a:moveTo>
                  <a:lnTo>
                    <a:pt x="259207" y="0"/>
                  </a:lnTo>
                  <a:lnTo>
                    <a:pt x="259207" y="5054346"/>
                  </a:lnTo>
                  <a:lnTo>
                    <a:pt x="0" y="505434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4615200" cy="10285200"/>
            <a:chOff x="0" y="0"/>
            <a:chExt cx="61536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3658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6153658">
                  <a:moveTo>
                    <a:pt x="0" y="0"/>
                  </a:moveTo>
                  <a:lnTo>
                    <a:pt x="6153658" y="0"/>
                  </a:lnTo>
                  <a:lnTo>
                    <a:pt x="6153658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15" t="0" r="-28774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34160" y="900000"/>
            <a:ext cx="9565200" cy="8179200"/>
            <a:chOff x="0" y="0"/>
            <a:chExt cx="12753600" cy="1090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53600" cy="10905600"/>
            </a:xfrm>
            <a:custGeom>
              <a:avLst/>
              <a:gdLst/>
              <a:ahLst/>
              <a:cxnLst/>
              <a:rect r="r" b="b" t="t" l="l"/>
              <a:pathLst>
                <a:path h="10905600" w="12753600">
                  <a:moveTo>
                    <a:pt x="0" y="0"/>
                  </a:moveTo>
                  <a:lnTo>
                    <a:pt x="12753600" y="0"/>
                  </a:lnTo>
                  <a:lnTo>
                    <a:pt x="12753600" y="10905600"/>
                  </a:lnTo>
                  <a:lnTo>
                    <a:pt x="0" y="109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753600" cy="1091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-2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Diagrama visual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2617" y="885280"/>
            <a:ext cx="3909001" cy="8516440"/>
          </a:xfrm>
          <a:custGeom>
            <a:avLst/>
            <a:gdLst/>
            <a:ahLst/>
            <a:cxnLst/>
            <a:rect r="r" b="b" t="t" l="l"/>
            <a:pathLst>
              <a:path h="8516440" w="3909001">
                <a:moveTo>
                  <a:pt x="0" y="0"/>
                </a:moveTo>
                <a:lnTo>
                  <a:pt x="3909001" y="0"/>
                </a:lnTo>
                <a:lnTo>
                  <a:pt x="3909001" y="8516440"/>
                </a:lnTo>
                <a:lnTo>
                  <a:pt x="0" y="8516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907000"/>
            <a:ext cx="8255478" cy="5517342"/>
          </a:xfrm>
          <a:custGeom>
            <a:avLst/>
            <a:gdLst/>
            <a:ahLst/>
            <a:cxnLst/>
            <a:rect r="r" b="b" t="t" l="l"/>
            <a:pathLst>
              <a:path h="5517342" w="8255478">
                <a:moveTo>
                  <a:pt x="0" y="0"/>
                </a:moveTo>
                <a:lnTo>
                  <a:pt x="8255478" y="0"/>
                </a:lnTo>
                <a:lnTo>
                  <a:pt x="8255478" y="5517342"/>
                </a:lnTo>
                <a:lnTo>
                  <a:pt x="0" y="5517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6207" y="8818712"/>
            <a:ext cx="1790736" cy="879177"/>
          </a:xfrm>
          <a:custGeom>
            <a:avLst/>
            <a:gdLst/>
            <a:ahLst/>
            <a:cxnLst/>
            <a:rect r="r" b="b" t="t" l="l"/>
            <a:pathLst>
              <a:path h="879177" w="1790736">
                <a:moveTo>
                  <a:pt x="0" y="0"/>
                </a:moveTo>
                <a:lnTo>
                  <a:pt x="1790736" y="0"/>
                </a:lnTo>
                <a:lnTo>
                  <a:pt x="1790736" y="879176"/>
                </a:lnTo>
                <a:lnTo>
                  <a:pt x="0" y="87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26" r="0" b="-232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8367" y="1019175"/>
            <a:ext cx="3103387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spc="-7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 fluxograma descreve o processo de encontrar o menor elemento de uma lista e colocá-lo na posição correta, repetindo isso até ordenar todo o vetor.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51868" y="7449845"/>
            <a:ext cx="5610861" cy="18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382" spc="-6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Escolhe o menor elemento da parte não ordenada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382" spc="-6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Coloca esse elemento na frente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382" spc="-6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Repete isso para cada posição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382" spc="-6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Faz no máximo uma troca por iteração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5600" y="3164400"/>
            <a:ext cx="194400" cy="3790800"/>
            <a:chOff x="0" y="0"/>
            <a:chExt cx="259200" cy="505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207" cy="5054346"/>
            </a:xfrm>
            <a:custGeom>
              <a:avLst/>
              <a:gdLst/>
              <a:ahLst/>
              <a:cxnLst/>
              <a:rect r="r" b="b" t="t" l="l"/>
              <a:pathLst>
                <a:path h="5054346" w="259207">
                  <a:moveTo>
                    <a:pt x="0" y="0"/>
                  </a:moveTo>
                  <a:lnTo>
                    <a:pt x="259207" y="0"/>
                  </a:lnTo>
                  <a:lnTo>
                    <a:pt x="259207" y="5054346"/>
                  </a:lnTo>
                  <a:lnTo>
                    <a:pt x="0" y="505434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4615200" cy="10285200"/>
            <a:chOff x="0" y="0"/>
            <a:chExt cx="61536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3658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6153658">
                  <a:moveTo>
                    <a:pt x="0" y="0"/>
                  </a:moveTo>
                  <a:lnTo>
                    <a:pt x="6153658" y="0"/>
                  </a:lnTo>
                  <a:lnTo>
                    <a:pt x="6153658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15" t="0" r="-28774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34160" y="900000"/>
            <a:ext cx="10653840" cy="8179200"/>
            <a:chOff x="0" y="0"/>
            <a:chExt cx="14205120" cy="1090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05121" cy="10905600"/>
            </a:xfrm>
            <a:custGeom>
              <a:avLst/>
              <a:gdLst/>
              <a:ahLst/>
              <a:cxnLst/>
              <a:rect r="r" b="b" t="t" l="l"/>
              <a:pathLst>
                <a:path h="10905600" w="14205121">
                  <a:moveTo>
                    <a:pt x="0" y="0"/>
                  </a:moveTo>
                  <a:lnTo>
                    <a:pt x="14205121" y="0"/>
                  </a:lnTo>
                  <a:lnTo>
                    <a:pt x="14205121" y="10905600"/>
                  </a:lnTo>
                  <a:lnTo>
                    <a:pt x="0" y="109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205120" cy="1091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-2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Trecho do código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" y="-1440"/>
            <a:ext cx="18288000" cy="10287360"/>
            <a:chOff x="0" y="0"/>
            <a:chExt cx="24384000" cy="137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508"/>
            </a:xfrm>
            <a:custGeom>
              <a:avLst/>
              <a:gdLst/>
              <a:ahLst/>
              <a:cxnLst/>
              <a:rect r="r" b="b" t="t" l="l"/>
              <a:pathLst>
                <a:path h="13716508" w="24384000">
                  <a:moveTo>
                    <a:pt x="1651" y="0"/>
                  </a:moveTo>
                  <a:lnTo>
                    <a:pt x="20420457" y="1651"/>
                  </a:lnTo>
                  <a:lnTo>
                    <a:pt x="24384000" y="13714857"/>
                  </a:lnTo>
                  <a:lnTo>
                    <a:pt x="0" y="1371650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517589" y="4081680"/>
            <a:ext cx="18288000" cy="10285200"/>
            <a:chOff x="0" y="0"/>
            <a:chExt cx="243840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" r="0" b="-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02160" y="0"/>
            <a:ext cx="2761200" cy="9411120"/>
            <a:chOff x="0" y="0"/>
            <a:chExt cx="3681600" cy="12548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1603" cy="12548108"/>
            </a:xfrm>
            <a:custGeom>
              <a:avLst/>
              <a:gdLst/>
              <a:ahLst/>
              <a:cxnLst/>
              <a:rect r="r" b="b" t="t" l="l"/>
              <a:pathLst>
                <a:path h="12548108" w="3681603">
                  <a:moveTo>
                    <a:pt x="396494" y="0"/>
                  </a:moveTo>
                  <a:lnTo>
                    <a:pt x="3681603" y="12548108"/>
                  </a:lnTo>
                  <a:lnTo>
                    <a:pt x="3630803" y="1253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17520" y="8163360"/>
            <a:ext cx="1766880" cy="2121840"/>
            <a:chOff x="0" y="0"/>
            <a:chExt cx="2355840" cy="282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5850" cy="2829179"/>
            </a:xfrm>
            <a:custGeom>
              <a:avLst/>
              <a:gdLst/>
              <a:ahLst/>
              <a:cxnLst/>
              <a:rect r="r" b="b" t="t" l="l"/>
              <a:pathLst>
                <a:path h="2829179" w="2355850">
                  <a:moveTo>
                    <a:pt x="2355850" y="2829179"/>
                  </a:moveTo>
                  <a:lnTo>
                    <a:pt x="2355850" y="0"/>
                  </a:lnTo>
                  <a:lnTo>
                    <a:pt x="0" y="2829179"/>
                  </a:lnTo>
                  <a:close/>
                </a:path>
              </a:pathLst>
            </a:custGeom>
            <a:solidFill>
              <a:srgbClr val="81C2E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17520" y="8518320"/>
            <a:ext cx="1766880" cy="1766880"/>
            <a:chOff x="0" y="0"/>
            <a:chExt cx="2355840" cy="235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5850" cy="2355850"/>
            </a:xfrm>
            <a:custGeom>
              <a:avLst/>
              <a:gdLst/>
              <a:ahLst/>
              <a:cxnLst/>
              <a:rect r="r" b="b" t="t" l="l"/>
              <a:pathLst>
                <a:path h="2355850" w="2355850">
                  <a:moveTo>
                    <a:pt x="2355850" y="2355850"/>
                  </a:moveTo>
                  <a:lnTo>
                    <a:pt x="2355850" y="0"/>
                  </a:lnTo>
                  <a:lnTo>
                    <a:pt x="0" y="23558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400160" y="30960"/>
            <a:ext cx="1807200" cy="1952640"/>
            <a:chOff x="0" y="0"/>
            <a:chExt cx="2409600" cy="260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9571" cy="2603500"/>
            </a:xfrm>
            <a:custGeom>
              <a:avLst/>
              <a:gdLst/>
              <a:ahLst/>
              <a:cxnLst/>
              <a:rect r="r" b="b" t="t" l="l"/>
              <a:pathLst>
                <a:path h="2603500" w="2409571">
                  <a:moveTo>
                    <a:pt x="0" y="0"/>
                  </a:moveTo>
                  <a:lnTo>
                    <a:pt x="2409571" y="0"/>
                  </a:lnTo>
                  <a:lnTo>
                    <a:pt x="2409571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664" t="-115047" r="-324825" b="-9345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89709" y="393703"/>
            <a:ext cx="6890776" cy="949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void ordenarEngajamento(int v[], int n)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for (int i = 0; i &lt; n - 1; i++){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int menor = i;</a:t>
            </a:r>
          </a:p>
          <a:p>
            <a:pPr algn="l">
              <a:lnSpc>
                <a:spcPts val="3261"/>
              </a:lnSpc>
            </a:pP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for (int j = i + 1; j &lt; n; j++){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if (v[j] &lt; v[menor]){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menor = j;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}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int aux = v[i];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v[i] = v[menor];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v[menor] = aux;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}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  <a:p>
            <a:pPr algn="l">
              <a:lnSpc>
                <a:spcPts val="3261"/>
              </a:lnSpc>
            </a:pP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int acharDiscrepante(int v[], int n)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float soma = 0;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for (int i = 0; i &lt; n; i++) {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soma += v[i];</a:t>
            </a:r>
          </a:p>
          <a:p>
            <a:pPr algn="l">
              <a:lnSpc>
                <a:spcPts val="3261"/>
              </a:lnSpc>
            </a:pPr>
            <a:r>
              <a:rPr lang="en-US" sz="27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}</a:t>
            </a:r>
          </a:p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16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42560" y="2386416"/>
            <a:ext cx="5893658" cy="739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float media = soma / n;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int discrepante = v[0];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float maiorDist = fabs(v[0] - media);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for (int i = 1; i &lt; n; i++){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float dist = fabs(v[i] - media);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if (dist &gt; maiorDist){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maiorDist = dist;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discrepante = v[i];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}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} 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return discrepante;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5600" y="3164400"/>
            <a:ext cx="194400" cy="3790800"/>
            <a:chOff x="0" y="0"/>
            <a:chExt cx="259200" cy="505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207" cy="5054346"/>
            </a:xfrm>
            <a:custGeom>
              <a:avLst/>
              <a:gdLst/>
              <a:ahLst/>
              <a:cxnLst/>
              <a:rect r="r" b="b" t="t" l="l"/>
              <a:pathLst>
                <a:path h="5054346" w="259207">
                  <a:moveTo>
                    <a:pt x="0" y="0"/>
                  </a:moveTo>
                  <a:lnTo>
                    <a:pt x="259207" y="0"/>
                  </a:lnTo>
                  <a:lnTo>
                    <a:pt x="259207" y="5054346"/>
                  </a:lnTo>
                  <a:lnTo>
                    <a:pt x="0" y="505434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4615200" cy="10285200"/>
            <a:chOff x="0" y="0"/>
            <a:chExt cx="61536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3658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6153658">
                  <a:moveTo>
                    <a:pt x="0" y="0"/>
                  </a:moveTo>
                  <a:lnTo>
                    <a:pt x="6153658" y="0"/>
                  </a:lnTo>
                  <a:lnTo>
                    <a:pt x="6153658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15" t="0" r="-28774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34160" y="900000"/>
            <a:ext cx="11518005" cy="8179200"/>
            <a:chOff x="0" y="0"/>
            <a:chExt cx="15357341" cy="1090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57340" cy="10905600"/>
            </a:xfrm>
            <a:custGeom>
              <a:avLst/>
              <a:gdLst/>
              <a:ahLst/>
              <a:cxnLst/>
              <a:rect r="r" b="b" t="t" l="l"/>
              <a:pathLst>
                <a:path h="10905600" w="15357340">
                  <a:moveTo>
                    <a:pt x="0" y="0"/>
                  </a:moveTo>
                  <a:lnTo>
                    <a:pt x="15357340" y="0"/>
                  </a:lnTo>
                  <a:lnTo>
                    <a:pt x="15357340" y="10905600"/>
                  </a:lnTo>
                  <a:lnTo>
                    <a:pt x="0" y="109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5357341" cy="1091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-2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Exemplo real aplicado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" y="-1440"/>
            <a:ext cx="18288000" cy="10287360"/>
            <a:chOff x="0" y="0"/>
            <a:chExt cx="24384000" cy="137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508"/>
            </a:xfrm>
            <a:custGeom>
              <a:avLst/>
              <a:gdLst/>
              <a:ahLst/>
              <a:cxnLst/>
              <a:rect r="r" b="b" t="t" l="l"/>
              <a:pathLst>
                <a:path h="13716508" w="24384000">
                  <a:moveTo>
                    <a:pt x="1651" y="0"/>
                  </a:moveTo>
                  <a:lnTo>
                    <a:pt x="20420457" y="1651"/>
                  </a:lnTo>
                  <a:lnTo>
                    <a:pt x="24384000" y="13714857"/>
                  </a:lnTo>
                  <a:lnTo>
                    <a:pt x="0" y="1371650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880" y="0"/>
            <a:ext cx="18288000" cy="10285200"/>
            <a:chOff x="0" y="0"/>
            <a:chExt cx="243840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" r="0" b="-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02160" y="0"/>
            <a:ext cx="2761200" cy="9411120"/>
            <a:chOff x="0" y="0"/>
            <a:chExt cx="3681600" cy="12548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1603" cy="12548108"/>
            </a:xfrm>
            <a:custGeom>
              <a:avLst/>
              <a:gdLst/>
              <a:ahLst/>
              <a:cxnLst/>
              <a:rect r="r" b="b" t="t" l="l"/>
              <a:pathLst>
                <a:path h="12548108" w="3681603">
                  <a:moveTo>
                    <a:pt x="396494" y="0"/>
                  </a:moveTo>
                  <a:lnTo>
                    <a:pt x="3681603" y="12548108"/>
                  </a:lnTo>
                  <a:lnTo>
                    <a:pt x="3630803" y="1253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17520" y="8163360"/>
            <a:ext cx="1766880" cy="2121840"/>
            <a:chOff x="0" y="0"/>
            <a:chExt cx="2355840" cy="282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5850" cy="2829179"/>
            </a:xfrm>
            <a:custGeom>
              <a:avLst/>
              <a:gdLst/>
              <a:ahLst/>
              <a:cxnLst/>
              <a:rect r="r" b="b" t="t" l="l"/>
              <a:pathLst>
                <a:path h="2829179" w="2355850">
                  <a:moveTo>
                    <a:pt x="2355850" y="2829179"/>
                  </a:moveTo>
                  <a:lnTo>
                    <a:pt x="2355850" y="0"/>
                  </a:lnTo>
                  <a:lnTo>
                    <a:pt x="0" y="2829179"/>
                  </a:lnTo>
                  <a:close/>
                </a:path>
              </a:pathLst>
            </a:custGeom>
            <a:solidFill>
              <a:srgbClr val="81C2E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17520" y="8518320"/>
            <a:ext cx="1766880" cy="1766880"/>
            <a:chOff x="0" y="0"/>
            <a:chExt cx="2355840" cy="235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5850" cy="2355850"/>
            </a:xfrm>
            <a:custGeom>
              <a:avLst/>
              <a:gdLst/>
              <a:ahLst/>
              <a:cxnLst/>
              <a:rect r="r" b="b" t="t" l="l"/>
              <a:pathLst>
                <a:path h="2355850" w="2355850">
                  <a:moveTo>
                    <a:pt x="2355850" y="2355850"/>
                  </a:moveTo>
                  <a:lnTo>
                    <a:pt x="2355850" y="0"/>
                  </a:lnTo>
                  <a:lnTo>
                    <a:pt x="0" y="23558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400160" y="30960"/>
            <a:ext cx="1807200" cy="1952640"/>
            <a:chOff x="0" y="0"/>
            <a:chExt cx="2409600" cy="260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9571" cy="2603500"/>
            </a:xfrm>
            <a:custGeom>
              <a:avLst/>
              <a:gdLst/>
              <a:ahLst/>
              <a:cxnLst/>
              <a:rect r="r" b="b" t="t" l="l"/>
              <a:pathLst>
                <a:path h="2603500" w="2409571">
                  <a:moveTo>
                    <a:pt x="0" y="0"/>
                  </a:moveTo>
                  <a:lnTo>
                    <a:pt x="2409571" y="0"/>
                  </a:lnTo>
                  <a:lnTo>
                    <a:pt x="2409571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664" t="-115047" r="-324825" b="-9345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13520" y="962310"/>
            <a:ext cx="1374336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 spc="-1">
                <a:solidFill>
                  <a:srgbClr val="005CA1"/>
                </a:solidFill>
                <a:latin typeface="Roboto Bold"/>
                <a:ea typeface="Roboto Bold"/>
                <a:cs typeface="Roboto Bold"/>
                <a:sym typeface="Roboto Bold"/>
              </a:rPr>
              <a:t>Exemplo real aplicado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23520" y="2304720"/>
            <a:ext cx="14594400" cy="6989760"/>
            <a:chOff x="0" y="0"/>
            <a:chExt cx="19459200" cy="9319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59200" cy="9319680"/>
            </a:xfrm>
            <a:custGeom>
              <a:avLst/>
              <a:gdLst/>
              <a:ahLst/>
              <a:cxnLst/>
              <a:rect r="r" b="b" t="t" l="l"/>
              <a:pathLst>
                <a:path h="9319680" w="19459200">
                  <a:moveTo>
                    <a:pt x="0" y="0"/>
                  </a:moveTo>
                  <a:lnTo>
                    <a:pt x="19459200" y="0"/>
                  </a:lnTo>
                  <a:lnTo>
                    <a:pt x="19459200" y="9319680"/>
                  </a:lnTo>
                  <a:lnTo>
                    <a:pt x="0" y="9319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459200" cy="9386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77"/>
                </a:lnSpc>
              </a:pP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 selection sort está sendo usado para organizar pequenas amostras de dados de engajamento, como:</a:t>
              </a:r>
            </a:p>
            <a:p>
              <a:pPr algn="l" marL="669288" indent="-334644" lvl="1">
                <a:lnSpc>
                  <a:spcPts val="4277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número de curtidas</a:t>
              </a:r>
            </a:p>
            <a:p>
              <a:pPr algn="l" marL="669288" indent="-334644" lvl="1">
                <a:lnSpc>
                  <a:spcPts val="4277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quantidade de comentários</a:t>
              </a:r>
            </a:p>
            <a:p>
              <a:pPr algn="l" marL="669288" indent="-334644" lvl="1">
                <a:lnSpc>
                  <a:spcPts val="4277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interações</a:t>
              </a:r>
            </a:p>
            <a:p>
              <a:pPr algn="l" marL="669288" indent="-334644" lvl="1">
                <a:lnSpc>
                  <a:spcPts val="4277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visualizações</a:t>
              </a:r>
            </a:p>
            <a:p>
              <a:pPr algn="l">
                <a:lnSpc>
                  <a:spcPts val="4277"/>
                </a:lnSpc>
              </a:pPr>
            </a:p>
            <a:p>
              <a:pPr algn="l">
                <a:lnSpc>
                  <a:spcPts val="4277"/>
                </a:lnSpc>
              </a:pP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 essa ordenação, é possível comparar rapidamente o desempenho das publicações, destacando quais conteúdos se sobressaem e facilitando decisões sobre estratégias de postagem e análise de tendências</a:t>
              </a:r>
            </a:p>
            <a:p>
              <a:pPr algn="l">
                <a:lnSpc>
                  <a:spcPts val="386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554073" y="8850428"/>
            <a:ext cx="1790736" cy="879177"/>
          </a:xfrm>
          <a:custGeom>
            <a:avLst/>
            <a:gdLst/>
            <a:ahLst/>
            <a:cxnLst/>
            <a:rect r="r" b="b" t="t" l="l"/>
            <a:pathLst>
              <a:path h="879177" w="1790736">
                <a:moveTo>
                  <a:pt x="0" y="0"/>
                </a:moveTo>
                <a:lnTo>
                  <a:pt x="1790735" y="0"/>
                </a:lnTo>
                <a:lnTo>
                  <a:pt x="1790735" y="879177"/>
                </a:lnTo>
                <a:lnTo>
                  <a:pt x="0" y="879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26" r="0" b="-2326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5600" y="3164400"/>
            <a:ext cx="194400" cy="3790800"/>
            <a:chOff x="0" y="0"/>
            <a:chExt cx="259200" cy="505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207" cy="5054346"/>
            </a:xfrm>
            <a:custGeom>
              <a:avLst/>
              <a:gdLst/>
              <a:ahLst/>
              <a:cxnLst/>
              <a:rect r="r" b="b" t="t" l="l"/>
              <a:pathLst>
                <a:path h="5054346" w="259207">
                  <a:moveTo>
                    <a:pt x="0" y="0"/>
                  </a:moveTo>
                  <a:lnTo>
                    <a:pt x="259207" y="0"/>
                  </a:lnTo>
                  <a:lnTo>
                    <a:pt x="259207" y="5054346"/>
                  </a:lnTo>
                  <a:lnTo>
                    <a:pt x="0" y="505434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4615200" cy="10285200"/>
            <a:chOff x="0" y="0"/>
            <a:chExt cx="61536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3658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6153658">
                  <a:moveTo>
                    <a:pt x="0" y="0"/>
                  </a:moveTo>
                  <a:lnTo>
                    <a:pt x="6153658" y="0"/>
                  </a:lnTo>
                  <a:lnTo>
                    <a:pt x="6153658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15" t="0" r="-28774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34160" y="900000"/>
            <a:ext cx="11518005" cy="8179200"/>
            <a:chOff x="0" y="0"/>
            <a:chExt cx="15357341" cy="1090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57340" cy="10905600"/>
            </a:xfrm>
            <a:custGeom>
              <a:avLst/>
              <a:gdLst/>
              <a:ahLst/>
              <a:cxnLst/>
              <a:rect r="r" b="b" t="t" l="l"/>
              <a:pathLst>
                <a:path h="10905600" w="15357340">
                  <a:moveTo>
                    <a:pt x="0" y="0"/>
                  </a:moveTo>
                  <a:lnTo>
                    <a:pt x="15357340" y="0"/>
                  </a:lnTo>
                  <a:lnTo>
                    <a:pt x="15357340" y="10905600"/>
                  </a:lnTo>
                  <a:lnTo>
                    <a:pt x="0" y="109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5357341" cy="1091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-2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Complexidade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" y="-1440"/>
            <a:ext cx="18288000" cy="10287360"/>
            <a:chOff x="0" y="0"/>
            <a:chExt cx="24384000" cy="137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508"/>
            </a:xfrm>
            <a:custGeom>
              <a:avLst/>
              <a:gdLst/>
              <a:ahLst/>
              <a:cxnLst/>
              <a:rect r="r" b="b" t="t" l="l"/>
              <a:pathLst>
                <a:path h="13716508" w="24384000">
                  <a:moveTo>
                    <a:pt x="1651" y="0"/>
                  </a:moveTo>
                  <a:lnTo>
                    <a:pt x="20420457" y="1651"/>
                  </a:lnTo>
                  <a:lnTo>
                    <a:pt x="24384000" y="13714857"/>
                  </a:lnTo>
                  <a:lnTo>
                    <a:pt x="0" y="1371650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1440"/>
            <a:ext cx="18288000" cy="10285200"/>
            <a:chOff x="0" y="0"/>
            <a:chExt cx="243840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" r="0" b="-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60736" y="30960"/>
            <a:ext cx="2761200" cy="9411120"/>
            <a:chOff x="0" y="0"/>
            <a:chExt cx="3681600" cy="12548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1603" cy="12548108"/>
            </a:xfrm>
            <a:custGeom>
              <a:avLst/>
              <a:gdLst/>
              <a:ahLst/>
              <a:cxnLst/>
              <a:rect r="r" b="b" t="t" l="l"/>
              <a:pathLst>
                <a:path h="12548108" w="3681603">
                  <a:moveTo>
                    <a:pt x="396494" y="0"/>
                  </a:moveTo>
                  <a:lnTo>
                    <a:pt x="3681603" y="12548108"/>
                  </a:lnTo>
                  <a:lnTo>
                    <a:pt x="3630803" y="1253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17520" y="8163360"/>
            <a:ext cx="1766880" cy="2121840"/>
            <a:chOff x="0" y="0"/>
            <a:chExt cx="2355840" cy="282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5850" cy="2829179"/>
            </a:xfrm>
            <a:custGeom>
              <a:avLst/>
              <a:gdLst/>
              <a:ahLst/>
              <a:cxnLst/>
              <a:rect r="r" b="b" t="t" l="l"/>
              <a:pathLst>
                <a:path h="2829179" w="2355850">
                  <a:moveTo>
                    <a:pt x="2355850" y="2829179"/>
                  </a:moveTo>
                  <a:lnTo>
                    <a:pt x="2355850" y="0"/>
                  </a:lnTo>
                  <a:lnTo>
                    <a:pt x="0" y="2829179"/>
                  </a:lnTo>
                  <a:close/>
                </a:path>
              </a:pathLst>
            </a:custGeom>
            <a:solidFill>
              <a:srgbClr val="81C2E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17520" y="8518320"/>
            <a:ext cx="1766880" cy="1766880"/>
            <a:chOff x="0" y="0"/>
            <a:chExt cx="2355840" cy="235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5850" cy="2355850"/>
            </a:xfrm>
            <a:custGeom>
              <a:avLst/>
              <a:gdLst/>
              <a:ahLst/>
              <a:cxnLst/>
              <a:rect r="r" b="b" t="t" l="l"/>
              <a:pathLst>
                <a:path h="2355850" w="2355850">
                  <a:moveTo>
                    <a:pt x="2355850" y="2355850"/>
                  </a:moveTo>
                  <a:lnTo>
                    <a:pt x="2355850" y="0"/>
                  </a:lnTo>
                  <a:lnTo>
                    <a:pt x="0" y="23558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400160" y="30960"/>
            <a:ext cx="1807200" cy="1952640"/>
            <a:chOff x="0" y="0"/>
            <a:chExt cx="2409600" cy="260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9571" cy="2603500"/>
            </a:xfrm>
            <a:custGeom>
              <a:avLst/>
              <a:gdLst/>
              <a:ahLst/>
              <a:cxnLst/>
              <a:rect r="r" b="b" t="t" l="l"/>
              <a:pathLst>
                <a:path h="2603500" w="2409571">
                  <a:moveTo>
                    <a:pt x="0" y="0"/>
                  </a:moveTo>
                  <a:lnTo>
                    <a:pt x="2409571" y="0"/>
                  </a:lnTo>
                  <a:lnTo>
                    <a:pt x="2409571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664" t="-115047" r="-324825" b="-9345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13520" y="962310"/>
            <a:ext cx="1374336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 spc="-1">
                <a:solidFill>
                  <a:srgbClr val="005CA1"/>
                </a:solidFill>
                <a:latin typeface="Roboto Bold"/>
                <a:ea typeface="Roboto Bold"/>
                <a:cs typeface="Roboto Bold"/>
                <a:sym typeface="Roboto Bold"/>
              </a:rPr>
              <a:t>Complexidade alta: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9337" y="1974075"/>
            <a:ext cx="2822148" cy="82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1"/>
              </a:lnSpc>
              <a:spcBef>
                <a:spcPct val="0"/>
              </a:spcBef>
            </a:pPr>
            <a:r>
              <a:rPr lang="en-US" sz="536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Big O n^2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78810" y="4066722"/>
            <a:ext cx="6330381" cy="3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8"/>
              </a:lnSpc>
              <a:spcBef>
                <a:spcPct val="0"/>
              </a:spcBef>
            </a:pPr>
            <a:r>
              <a:rPr lang="en-US" sz="37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complexidade do Selection Sort é O(n²) por causa de quantas comparações o algoritmo faz, independentemente de o vetor estar ordenado ou não.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25363" y="8647378"/>
            <a:ext cx="1790736" cy="879177"/>
          </a:xfrm>
          <a:custGeom>
            <a:avLst/>
            <a:gdLst/>
            <a:ahLst/>
            <a:cxnLst/>
            <a:rect r="r" b="b" t="t" l="l"/>
            <a:pathLst>
              <a:path h="879177" w="1790736">
                <a:moveTo>
                  <a:pt x="0" y="0"/>
                </a:moveTo>
                <a:lnTo>
                  <a:pt x="1790736" y="0"/>
                </a:lnTo>
                <a:lnTo>
                  <a:pt x="1790736" y="879177"/>
                </a:lnTo>
                <a:lnTo>
                  <a:pt x="0" y="879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26" r="0" b="-2326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5600" y="3164400"/>
            <a:ext cx="194400" cy="3790800"/>
            <a:chOff x="0" y="0"/>
            <a:chExt cx="259200" cy="505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207" cy="5054346"/>
            </a:xfrm>
            <a:custGeom>
              <a:avLst/>
              <a:gdLst/>
              <a:ahLst/>
              <a:cxnLst/>
              <a:rect r="r" b="b" t="t" l="l"/>
              <a:pathLst>
                <a:path h="5054346" w="259207">
                  <a:moveTo>
                    <a:pt x="0" y="0"/>
                  </a:moveTo>
                  <a:lnTo>
                    <a:pt x="259207" y="0"/>
                  </a:lnTo>
                  <a:lnTo>
                    <a:pt x="259207" y="5054346"/>
                  </a:lnTo>
                  <a:lnTo>
                    <a:pt x="0" y="505434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4615200" cy="10285200"/>
            <a:chOff x="0" y="0"/>
            <a:chExt cx="61536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3658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6153658">
                  <a:moveTo>
                    <a:pt x="0" y="0"/>
                  </a:moveTo>
                  <a:lnTo>
                    <a:pt x="6153658" y="0"/>
                  </a:lnTo>
                  <a:lnTo>
                    <a:pt x="6153658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15" t="0" r="-28774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34160" y="900000"/>
            <a:ext cx="11518005" cy="8179200"/>
            <a:chOff x="0" y="0"/>
            <a:chExt cx="15357341" cy="1090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57340" cy="10905600"/>
            </a:xfrm>
            <a:custGeom>
              <a:avLst/>
              <a:gdLst/>
              <a:ahLst/>
              <a:cxnLst/>
              <a:rect r="r" b="b" t="t" l="l"/>
              <a:pathLst>
                <a:path h="10905600" w="15357340">
                  <a:moveTo>
                    <a:pt x="0" y="0"/>
                  </a:moveTo>
                  <a:lnTo>
                    <a:pt x="15357340" y="0"/>
                  </a:lnTo>
                  <a:lnTo>
                    <a:pt x="15357340" y="10905600"/>
                  </a:lnTo>
                  <a:lnTo>
                    <a:pt x="0" y="109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5357341" cy="1091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-2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Resultados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" y="-1440"/>
            <a:ext cx="18288000" cy="10287360"/>
            <a:chOff x="0" y="0"/>
            <a:chExt cx="24384000" cy="137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508"/>
            </a:xfrm>
            <a:custGeom>
              <a:avLst/>
              <a:gdLst/>
              <a:ahLst/>
              <a:cxnLst/>
              <a:rect r="r" b="b" t="t" l="l"/>
              <a:pathLst>
                <a:path h="13716508" w="24384000">
                  <a:moveTo>
                    <a:pt x="1651" y="0"/>
                  </a:moveTo>
                  <a:lnTo>
                    <a:pt x="20420457" y="1651"/>
                  </a:lnTo>
                  <a:lnTo>
                    <a:pt x="24384000" y="13714857"/>
                  </a:lnTo>
                  <a:lnTo>
                    <a:pt x="0" y="1371650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1440"/>
            <a:ext cx="18288000" cy="10285200"/>
            <a:chOff x="0" y="0"/>
            <a:chExt cx="243840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" r="0" b="-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60736" y="30960"/>
            <a:ext cx="2761200" cy="9411120"/>
            <a:chOff x="0" y="0"/>
            <a:chExt cx="3681600" cy="12548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1603" cy="12548108"/>
            </a:xfrm>
            <a:custGeom>
              <a:avLst/>
              <a:gdLst/>
              <a:ahLst/>
              <a:cxnLst/>
              <a:rect r="r" b="b" t="t" l="l"/>
              <a:pathLst>
                <a:path h="12548108" w="3681603">
                  <a:moveTo>
                    <a:pt x="396494" y="0"/>
                  </a:moveTo>
                  <a:lnTo>
                    <a:pt x="3681603" y="12548108"/>
                  </a:lnTo>
                  <a:lnTo>
                    <a:pt x="3630803" y="1253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17520" y="8163360"/>
            <a:ext cx="1766880" cy="2121840"/>
            <a:chOff x="0" y="0"/>
            <a:chExt cx="2355840" cy="282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5850" cy="2829179"/>
            </a:xfrm>
            <a:custGeom>
              <a:avLst/>
              <a:gdLst/>
              <a:ahLst/>
              <a:cxnLst/>
              <a:rect r="r" b="b" t="t" l="l"/>
              <a:pathLst>
                <a:path h="2829179" w="2355850">
                  <a:moveTo>
                    <a:pt x="2355850" y="2829179"/>
                  </a:moveTo>
                  <a:lnTo>
                    <a:pt x="2355850" y="0"/>
                  </a:lnTo>
                  <a:lnTo>
                    <a:pt x="0" y="2829179"/>
                  </a:lnTo>
                  <a:close/>
                </a:path>
              </a:pathLst>
            </a:custGeom>
            <a:solidFill>
              <a:srgbClr val="81C2E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17520" y="8518320"/>
            <a:ext cx="1766880" cy="1766880"/>
            <a:chOff x="0" y="0"/>
            <a:chExt cx="2355840" cy="235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5850" cy="2355850"/>
            </a:xfrm>
            <a:custGeom>
              <a:avLst/>
              <a:gdLst/>
              <a:ahLst/>
              <a:cxnLst/>
              <a:rect r="r" b="b" t="t" l="l"/>
              <a:pathLst>
                <a:path h="2355850" w="2355850">
                  <a:moveTo>
                    <a:pt x="2355850" y="2355850"/>
                  </a:moveTo>
                  <a:lnTo>
                    <a:pt x="2355850" y="0"/>
                  </a:lnTo>
                  <a:lnTo>
                    <a:pt x="0" y="23558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400160" y="30960"/>
            <a:ext cx="1807200" cy="1952640"/>
            <a:chOff x="0" y="0"/>
            <a:chExt cx="2409600" cy="260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9571" cy="2603500"/>
            </a:xfrm>
            <a:custGeom>
              <a:avLst/>
              <a:gdLst/>
              <a:ahLst/>
              <a:cxnLst/>
              <a:rect r="r" b="b" t="t" l="l"/>
              <a:pathLst>
                <a:path h="2603500" w="2409571">
                  <a:moveTo>
                    <a:pt x="0" y="0"/>
                  </a:moveTo>
                  <a:lnTo>
                    <a:pt x="2409571" y="0"/>
                  </a:lnTo>
                  <a:lnTo>
                    <a:pt x="2409571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664" t="-115047" r="-324825" b="-9345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13520" y="962310"/>
            <a:ext cx="1374336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 spc="-1">
                <a:solidFill>
                  <a:srgbClr val="005CA1"/>
                </a:solidFill>
                <a:latin typeface="Roboto Bold"/>
                <a:ea typeface="Roboto Bold"/>
                <a:cs typeface="Roboto Bold"/>
                <a:sym typeface="Roboto Bold"/>
              </a:rPr>
              <a:t>Resultados obtidos: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379137" y="8918090"/>
            <a:ext cx="1790736" cy="879177"/>
          </a:xfrm>
          <a:custGeom>
            <a:avLst/>
            <a:gdLst/>
            <a:ahLst/>
            <a:cxnLst/>
            <a:rect r="r" b="b" t="t" l="l"/>
            <a:pathLst>
              <a:path h="879177" w="1790736">
                <a:moveTo>
                  <a:pt x="0" y="0"/>
                </a:moveTo>
                <a:lnTo>
                  <a:pt x="1790735" y="0"/>
                </a:lnTo>
                <a:lnTo>
                  <a:pt x="1790735" y="879177"/>
                </a:lnTo>
                <a:lnTo>
                  <a:pt x="0" y="879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26" r="0" b="-232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59406" y="2875391"/>
            <a:ext cx="6725794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1. Ordenação correta dos dados de engajamento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 Selection Sort organiza o vetor de forma crescente, permitindo visualizar facilmente: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quais publicações tiveram menor ou maior engajamento,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distribuição geral dos dados,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possíveis padrões ou tendências.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87698" y="2703941"/>
            <a:ext cx="7084195" cy="30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2. Identificação de valores discrepantes (outliers)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função de detecção de discrepante calcula a média e identifica o item que se afasta mais dela.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Esse resultado é útil para: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detectar picos de engajamento,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identificar posts que performaram muito acima ou muito abaixo do normal,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destacar conteúdos que merecem investigação.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08939" y="6653647"/>
            <a:ext cx="7230383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b="true" sz="224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3. Suporte ao pré-processamento de dados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</a:p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24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combinação de ordenação + detecção de discrepantes gera um conjunto de dados mais limpo e organizado, pronto para: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24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análises estatísticas básicas,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24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visualizações,</a:t>
            </a:r>
          </a:p>
          <a:p>
            <a:pPr algn="ctr">
              <a:lnSpc>
                <a:spcPts val="2694"/>
              </a:lnSpc>
              <a:spcBef>
                <a:spcPct val="0"/>
              </a:spcBef>
            </a:pPr>
            <a:r>
              <a:rPr lang="en-US" sz="224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 para servir como entrada inicial em modelos de machine learning.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5600" y="3164400"/>
            <a:ext cx="194400" cy="3790800"/>
            <a:chOff x="0" y="0"/>
            <a:chExt cx="259200" cy="505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207" cy="5054346"/>
            </a:xfrm>
            <a:custGeom>
              <a:avLst/>
              <a:gdLst/>
              <a:ahLst/>
              <a:cxnLst/>
              <a:rect r="r" b="b" t="t" l="l"/>
              <a:pathLst>
                <a:path h="5054346" w="259207">
                  <a:moveTo>
                    <a:pt x="0" y="0"/>
                  </a:moveTo>
                  <a:lnTo>
                    <a:pt x="259207" y="0"/>
                  </a:lnTo>
                  <a:lnTo>
                    <a:pt x="259207" y="5054346"/>
                  </a:lnTo>
                  <a:lnTo>
                    <a:pt x="0" y="505434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4615200" cy="10285200"/>
            <a:chOff x="0" y="0"/>
            <a:chExt cx="61536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3658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6153658">
                  <a:moveTo>
                    <a:pt x="0" y="0"/>
                  </a:moveTo>
                  <a:lnTo>
                    <a:pt x="6153658" y="0"/>
                  </a:lnTo>
                  <a:lnTo>
                    <a:pt x="6153658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15" t="0" r="-28774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34160" y="900000"/>
            <a:ext cx="10653840" cy="8179200"/>
            <a:chOff x="0" y="0"/>
            <a:chExt cx="14205120" cy="1090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05121" cy="10905600"/>
            </a:xfrm>
            <a:custGeom>
              <a:avLst/>
              <a:gdLst/>
              <a:ahLst/>
              <a:cxnLst/>
              <a:rect r="r" b="b" t="t" l="l"/>
              <a:pathLst>
                <a:path h="10905600" w="14205121">
                  <a:moveTo>
                    <a:pt x="0" y="0"/>
                  </a:moveTo>
                  <a:lnTo>
                    <a:pt x="14205121" y="0"/>
                  </a:lnTo>
                  <a:lnTo>
                    <a:pt x="14205121" y="10905600"/>
                  </a:lnTo>
                  <a:lnTo>
                    <a:pt x="0" y="109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205120" cy="1091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-2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Conclusão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" y="-1440"/>
            <a:ext cx="18288000" cy="10287360"/>
            <a:chOff x="0" y="0"/>
            <a:chExt cx="24384000" cy="137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508"/>
            </a:xfrm>
            <a:custGeom>
              <a:avLst/>
              <a:gdLst/>
              <a:ahLst/>
              <a:cxnLst/>
              <a:rect r="r" b="b" t="t" l="l"/>
              <a:pathLst>
                <a:path h="13716508" w="24384000">
                  <a:moveTo>
                    <a:pt x="1651" y="0"/>
                  </a:moveTo>
                  <a:lnTo>
                    <a:pt x="20420457" y="1651"/>
                  </a:lnTo>
                  <a:lnTo>
                    <a:pt x="24384000" y="13714857"/>
                  </a:lnTo>
                  <a:lnTo>
                    <a:pt x="0" y="1371650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880" y="0"/>
            <a:ext cx="18288000" cy="10285200"/>
            <a:chOff x="0" y="0"/>
            <a:chExt cx="24384000" cy="137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3588"/>
            </a:xfrm>
            <a:custGeom>
              <a:avLst/>
              <a:gdLst/>
              <a:ahLst/>
              <a:cxnLst/>
              <a:rect r="r" b="b" t="t" l="l"/>
              <a:pathLst>
                <a:path h="137135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588"/>
                  </a:lnTo>
                  <a:lnTo>
                    <a:pt x="0" y="137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" r="0" b="-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02160" y="0"/>
            <a:ext cx="2761200" cy="9411120"/>
            <a:chOff x="0" y="0"/>
            <a:chExt cx="3681600" cy="12548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1603" cy="12548108"/>
            </a:xfrm>
            <a:custGeom>
              <a:avLst/>
              <a:gdLst/>
              <a:ahLst/>
              <a:cxnLst/>
              <a:rect r="r" b="b" t="t" l="l"/>
              <a:pathLst>
                <a:path h="12548108" w="3681603">
                  <a:moveTo>
                    <a:pt x="396494" y="0"/>
                  </a:moveTo>
                  <a:lnTo>
                    <a:pt x="3681603" y="12548108"/>
                  </a:lnTo>
                  <a:lnTo>
                    <a:pt x="3630803" y="1253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17520" y="8163360"/>
            <a:ext cx="1766880" cy="2121840"/>
            <a:chOff x="0" y="0"/>
            <a:chExt cx="2355840" cy="282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5850" cy="2829179"/>
            </a:xfrm>
            <a:custGeom>
              <a:avLst/>
              <a:gdLst/>
              <a:ahLst/>
              <a:cxnLst/>
              <a:rect r="r" b="b" t="t" l="l"/>
              <a:pathLst>
                <a:path h="2829179" w="2355850">
                  <a:moveTo>
                    <a:pt x="2355850" y="2829179"/>
                  </a:moveTo>
                  <a:lnTo>
                    <a:pt x="2355850" y="0"/>
                  </a:lnTo>
                  <a:lnTo>
                    <a:pt x="0" y="2829179"/>
                  </a:lnTo>
                  <a:close/>
                </a:path>
              </a:pathLst>
            </a:custGeom>
            <a:solidFill>
              <a:srgbClr val="81C2E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17520" y="8518320"/>
            <a:ext cx="1766880" cy="1766880"/>
            <a:chOff x="0" y="0"/>
            <a:chExt cx="2355840" cy="235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5850" cy="2355850"/>
            </a:xfrm>
            <a:custGeom>
              <a:avLst/>
              <a:gdLst/>
              <a:ahLst/>
              <a:cxnLst/>
              <a:rect r="r" b="b" t="t" l="l"/>
              <a:pathLst>
                <a:path h="2355850" w="2355850">
                  <a:moveTo>
                    <a:pt x="2355850" y="2355850"/>
                  </a:moveTo>
                  <a:lnTo>
                    <a:pt x="2355850" y="0"/>
                  </a:lnTo>
                  <a:lnTo>
                    <a:pt x="0" y="23558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400160" y="30960"/>
            <a:ext cx="1807200" cy="1952640"/>
            <a:chOff x="0" y="0"/>
            <a:chExt cx="2409600" cy="260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9571" cy="2603500"/>
            </a:xfrm>
            <a:custGeom>
              <a:avLst/>
              <a:gdLst/>
              <a:ahLst/>
              <a:cxnLst/>
              <a:rect r="r" b="b" t="t" l="l"/>
              <a:pathLst>
                <a:path h="2603500" w="2409571">
                  <a:moveTo>
                    <a:pt x="0" y="0"/>
                  </a:moveTo>
                  <a:lnTo>
                    <a:pt x="2409571" y="0"/>
                  </a:lnTo>
                  <a:lnTo>
                    <a:pt x="2409571" y="2603500"/>
                  </a:lnTo>
                  <a:lnTo>
                    <a:pt x="0" y="260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664" t="-115047" r="-324825" b="-9345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13520" y="962310"/>
            <a:ext cx="1374336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 spc="-1">
                <a:solidFill>
                  <a:srgbClr val="005CA1"/>
                </a:solidFill>
                <a:latin typeface="Roboto Bold"/>
                <a:ea typeface="Roboto Bold"/>
                <a:cs typeface="Roboto Bold"/>
                <a:sym typeface="Roboto Bold"/>
              </a:rPr>
              <a:t>Conclusão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78308" y="2268540"/>
            <a:ext cx="14594400" cy="6989760"/>
            <a:chOff x="0" y="0"/>
            <a:chExt cx="19459200" cy="9319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59200" cy="9319680"/>
            </a:xfrm>
            <a:custGeom>
              <a:avLst/>
              <a:gdLst/>
              <a:ahLst/>
              <a:cxnLst/>
              <a:rect r="r" b="b" t="t" l="l"/>
              <a:pathLst>
                <a:path h="9319680" w="19459200">
                  <a:moveTo>
                    <a:pt x="0" y="0"/>
                  </a:moveTo>
                  <a:lnTo>
                    <a:pt x="19459200" y="0"/>
                  </a:lnTo>
                  <a:lnTo>
                    <a:pt x="19459200" y="9319680"/>
                  </a:lnTo>
                  <a:lnTo>
                    <a:pt x="0" y="9319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459200" cy="9386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77"/>
                </a:lnSpc>
              </a:pP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 uso do Selection Sort nesse contexto mostra como um algoritmo básico pode apoiar análises reais, oferecendo uma for</a:t>
              </a: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 estruturada de organizar</a:t>
              </a:r>
              <a:r>
                <a:rPr lang="en-US" sz="30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dados e melhorar a compreensão sobre o desempenho de conteúdos. Mesmo sendo simples, ele cumpre bem seu papel em amostras pequenas e ajuda a preparar informações para estudos mais avançados ou decisões estratégicas.</a:t>
              </a:r>
            </a:p>
            <a:p>
              <a:pPr algn="l">
                <a:lnSpc>
                  <a:spcPts val="386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410328" y="8518320"/>
            <a:ext cx="1790736" cy="879177"/>
          </a:xfrm>
          <a:custGeom>
            <a:avLst/>
            <a:gdLst/>
            <a:ahLst/>
            <a:cxnLst/>
            <a:rect r="r" b="b" t="t" l="l"/>
            <a:pathLst>
              <a:path h="879177" w="1790736">
                <a:moveTo>
                  <a:pt x="0" y="0"/>
                </a:moveTo>
                <a:lnTo>
                  <a:pt x="1790736" y="0"/>
                </a:lnTo>
                <a:lnTo>
                  <a:pt x="1790736" y="879177"/>
                </a:lnTo>
                <a:lnTo>
                  <a:pt x="0" y="879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26" r="0" b="-2326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50513" y="3535336"/>
            <a:ext cx="8044295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spc="-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Obrigado!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8351280" y="7809120"/>
            <a:ext cx="3876480" cy="1885680"/>
            <a:chOff x="0" y="0"/>
            <a:chExt cx="5168640" cy="25142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8646" cy="2514219"/>
            </a:xfrm>
            <a:custGeom>
              <a:avLst/>
              <a:gdLst/>
              <a:ahLst/>
              <a:cxnLst/>
              <a:rect r="r" b="b" t="t" l="l"/>
              <a:pathLst>
                <a:path h="2514219" w="5168646">
                  <a:moveTo>
                    <a:pt x="0" y="0"/>
                  </a:moveTo>
                  <a:lnTo>
                    <a:pt x="5168646" y="0"/>
                  </a:lnTo>
                  <a:lnTo>
                    <a:pt x="5168646" y="2514219"/>
                  </a:lnTo>
                  <a:lnTo>
                    <a:pt x="0" y="2514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1" r="0" b="-4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5605200" y="7871760"/>
            <a:ext cx="2111760" cy="2281680"/>
            <a:chOff x="0" y="0"/>
            <a:chExt cx="2815680" cy="304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5717" cy="3042285"/>
            </a:xfrm>
            <a:custGeom>
              <a:avLst/>
              <a:gdLst/>
              <a:ahLst/>
              <a:cxnLst/>
              <a:rect r="r" b="b" t="t" l="l"/>
              <a:pathLst>
                <a:path h="3042285" w="2815717">
                  <a:moveTo>
                    <a:pt x="0" y="0"/>
                  </a:moveTo>
                  <a:lnTo>
                    <a:pt x="2815717" y="0"/>
                  </a:lnTo>
                  <a:lnTo>
                    <a:pt x="2815717" y="3042285"/>
                  </a:lnTo>
                  <a:lnTo>
                    <a:pt x="0" y="3042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663" t="-115046" r="-324814" b="-93454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DAG5p96ZZF8</dc:identifier>
  <dcterms:modified xsi:type="dcterms:W3CDTF">2011-08-01T06:04:30Z</dcterms:modified>
  <cp:revision>1</cp:revision>
  <dc:title>AED1-SELECTION_SORT</dc:title>
</cp:coreProperties>
</file>